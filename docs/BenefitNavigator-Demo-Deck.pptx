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27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869680" y="-91440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BB9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AGENTS LEAGUE   ·   REASONING AGENTS  (MICROSOFT FOUNDRY)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7556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</a:t>
            </a:r>
            <a:r>
              <a:rPr lang="en-US" sz="50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1627632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MALAYSIA  🇲🇾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58368" y="3429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your situation in plain language — it finds the government benefits you’re</a:t>
            </a:r>
            <a:r>
              <a:rPr lang="en-US" sz="1700" dirty="0"/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entitled to, every figure traceable to a gazetted .gov.my source, or it refuses to guess.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58368" y="452628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58368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898648" y="4526280"/>
            <a:ext cx="2684678" cy="411480"/>
          </a:xfrm>
          <a:prstGeom prst="roundRect">
            <a:avLst>
              <a:gd name="adj" fmla="val 48889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898648" y="4526280"/>
            <a:ext cx="2684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on Azure AI Foundry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11926" y="4526280"/>
            <a:ext cx="3778301" cy="411480"/>
          </a:xfrm>
          <a:prstGeom prst="roundRect">
            <a:avLst>
              <a:gd name="adj" fmla="val 48889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811926" y="4526280"/>
            <a:ext cx="37783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trust core · cite-or-refuse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C1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62910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B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Azure:  </a:t>
            </a: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benefitnav-api.ashyocean-f47e8ddf.swedencentral.azurecontainerapps.io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 qualify. Few ever claim.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safety net is real — but the rules are scattered across JKM, PERKESO and LHDN, written in dense officialese. “Am I eligible?” has no single answer, so eligible citizens simply never apply.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3227832"/>
            <a:ext cx="82296" cy="6949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91640" y="32004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gazetted .gov.my documents a citizen would have to read and cross-reference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23944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4197096"/>
            <a:ext cx="82296" cy="6949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23944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691640" y="41696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(JKM · PERKESO · LHDN) with different income rules &amp; categories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5093208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5166360"/>
            <a:ext cx="82296" cy="6949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09320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691640" y="513892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a hallucinated entitlement — wrong aid advice is worse than none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85432" y="1673352"/>
            <a:ext cx="4791456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95160" y="4663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 — Malay-first, accessible (ARIA, large-text, 4 languages).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BenefitNavigator Malaysia</a:t>
            </a: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Agents League · Reasoning Agents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2176E3-4979-BE81-996B-0BA5996EE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925" y="1975714"/>
            <a:ext cx="4200060" cy="2742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RETURNS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answers — and every figure is cited.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82296" cy="181965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548640" cy="548640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21433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already qualify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30906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you're entitled to now, each with its ringgit amount and a .gov.my citation.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1783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53128" y="1856232"/>
            <a:ext cx="82296" cy="181965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201168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834" y="21433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almost qualify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09160" y="30906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programmes plus the single action that would unlock each one.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403336" y="1783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03336" y="1856232"/>
            <a:ext cx="82296" cy="181965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59368" y="2011680"/>
            <a:ext cx="548640" cy="548640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042" y="21433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59368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Appeal, ready to send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59368" y="30906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drafted surat rayuan grounded in your stated facts and the programme's cited criteria.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2920" y="3931920"/>
            <a:ext cx="11201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02920" y="4005072"/>
            <a:ext cx="82296" cy="213969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7724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 from the live app:</a:t>
            </a:r>
            <a:endParaRPr lang="en-US" sz="1300" dirty="0"/>
          </a:p>
        </p:txBody>
      </p:sp>
      <p:pic>
        <p:nvPicPr>
          <p:cNvPr id="25" name="Image 3" descr="asset-verdi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43984"/>
            <a:ext cx="4572000" cy="9864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55046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official sources ✓  </a:t>
            </a: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unverified — the amount is a sum of computed, cited verdicts, not an LLM guess.</a:t>
            </a:r>
            <a:endParaRPr lang="en-US" sz="1200" dirty="0"/>
          </a:p>
        </p:txBody>
      </p:sp>
      <p:pic>
        <p:nvPicPr>
          <p:cNvPr id="27" name="Image 4" descr="asset-eligi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370832"/>
            <a:ext cx="4572000" cy="17073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BenefitNavigator Malaysia</a:t>
            </a: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Agents League · Reasoning Agents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9441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61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conducts · agents execute · core owns the truth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240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64792"/>
            <a:ext cx="82296" cy="8138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892808"/>
            <a:ext cx="502920" cy="50292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201350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37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Citizen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web UI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Malay-first · 4 langs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46177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13294B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11880" y="16642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</a:t>
            </a: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 — FastAPI  ·  Container 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195681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orchestrate.run_chat — per-turn driver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0" y="233172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3E0"/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94760" y="2395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5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SAFETY GATE</a:t>
            </a:r>
            <a:r>
              <a:rPr lang="en-US" sz="1150" dirty="0">
                <a:solidFill>
                  <a:srgbClr val="B25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(non-bypassable)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94760" y="26883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amount guard   2 · Content Safety groundedness   →   fail = refuse to a human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0" y="333756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E7F3EC"/>
          </a:solidFill>
          <a:ln w="15875">
            <a:solidFill>
              <a:srgbClr val="1B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94760" y="34107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</a:t>
            </a:r>
            <a:r>
              <a:rPr lang="en-US" sz="1150" b="1" dirty="0">
                <a:solidFill>
                  <a:srgbClr val="1B7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trust core — no LLM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794760" y="3694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compute.summarise — checker · status · elicit (Kleene 3-valued)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840480" y="4041648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E9E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77640" y="40416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thresholds.json</a:t>
            </a: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cited, gazetted rules (a benefit = a data edit, not code)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49640" y="155448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 w="15875">
            <a:solidFill>
              <a:srgbClr val="1B3A6B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32520" y="16642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</a:t>
            </a: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Foundry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732520" y="193852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· 5× gpt-4o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32520" y="2267712"/>
            <a:ext cx="2788920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C4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842248" y="22631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(router)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732520" y="2482596"/>
            <a:ext cx="2788920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C4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842248" y="24780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732520" y="2697480"/>
            <a:ext cx="2788920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C4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842248" y="26929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Communicator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732520" y="2912364"/>
            <a:ext cx="2788920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C4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842248" y="29077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732520" y="3127248"/>
            <a:ext cx="2788920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C4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842248" y="31226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(live)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549640" y="3611880"/>
            <a:ext cx="3154680" cy="841248"/>
          </a:xfrm>
          <a:prstGeom prst="roundRect">
            <a:avLst>
              <a:gd name="adj" fmla="val 10870"/>
            </a:avLst>
          </a:prstGeom>
          <a:solidFill>
            <a:srgbClr val="E7F3EC"/>
          </a:solidFill>
          <a:ln w="15875">
            <a:solidFill>
              <a:srgbClr val="1B7A3D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732520" y="37033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</a:t>
            </a:r>
            <a:r>
              <a:rPr lang="en-US" sz="1150" b="1" dirty="0">
                <a:solidFill>
                  <a:srgbClr val="1B7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trust-core server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732520" y="3959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· 5 tools: grill_next · grade · retrieve (live) · assess · optimize (latent)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549640" y="4617720"/>
            <a:ext cx="3154680" cy="1097280"/>
          </a:xfrm>
          <a:prstGeom prst="roundRect">
            <a:avLst>
              <a:gd name="adj" fmla="val 8333"/>
            </a:avLst>
          </a:prstGeom>
          <a:solidFill>
            <a:srgbClr val="EAF0FA"/>
          </a:solidFill>
          <a:ln w="15875">
            <a:solidFill>
              <a:srgbClr val="1B3A6B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32520" y="4709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</a:t>
            </a:r>
            <a:r>
              <a:rPr lang="en-US" sz="11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— Foundry IQ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732520" y="49834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(Basic) · hybrid BM25 + vector + semantic rerank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· Blob: 6 gazetted .gov.my docs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743200" y="2148840"/>
            <a:ext cx="667512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046720" y="2194560"/>
            <a:ext cx="484632" cy="0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818120" y="1874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execute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122408" y="3383280"/>
            <a:ext cx="0" cy="228600"/>
          </a:xfrm>
          <a:prstGeom prst="line">
            <a:avLst/>
          </a:prstGeom>
          <a:noFill/>
          <a:ln w="28575">
            <a:solidFill>
              <a:srgbClr val="1B7A3D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0241280" y="3310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HMAC token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122408" y="4453128"/>
            <a:ext cx="0" cy="146304"/>
          </a:xfrm>
          <a:prstGeom prst="line">
            <a:avLst/>
          </a:prstGeom>
          <a:noFill/>
          <a:ln w="28575">
            <a:solidFill>
              <a:srgbClr val="1B7A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046720" y="4023360"/>
            <a:ext cx="484632" cy="0"/>
          </a:xfrm>
          <a:prstGeom prst="line">
            <a:avLst/>
          </a:prstGeom>
          <a:noFill/>
          <a:ln w="28575">
            <a:solidFill>
              <a:srgbClr val="1B7A3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680960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compute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BenefitNavigator Malaysia</a:t>
            </a: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Agents League · Reasoning Agents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09441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&amp; MULTI-STEP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turn = a seven-step reasoning pipeline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201400" cy="566928"/>
          </a:xfrm>
          <a:prstGeom prst="roundRect">
            <a:avLst>
              <a:gd name="adj" fmla="val 16129"/>
            </a:avLst>
          </a:prstGeom>
          <a:solidFill>
            <a:srgbClr val="13294B"/>
          </a:solidFill>
          <a:ln/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decides eligibility and never does arithmetic. It only extracts facts and narrates verdicts — the deterministic core does the rest.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587752"/>
            <a:ext cx="82296" cy="122529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0704" y="2660904"/>
            <a:ext cx="493776" cy="493776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10" y="2779410"/>
            <a:ext cx="256764" cy="2567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26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screen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28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62556" y="2514600"/>
            <a:ext cx="14859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167128" y="2587752"/>
            <a:ext cx="82296" cy="122529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660904" y="2660904"/>
            <a:ext cx="493776" cy="493776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410" y="2779410"/>
            <a:ext cx="256764" cy="2567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1671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22128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stated facts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30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7673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767328" y="2587752"/>
            <a:ext cx="82296" cy="12252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261104" y="2660904"/>
            <a:ext cx="493776" cy="49377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610" y="2779410"/>
            <a:ext cx="256764" cy="2567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404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3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7673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38130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assess / escalate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2532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3675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367528" y="2587752"/>
            <a:ext cx="82296" cy="12252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861304" y="2660904"/>
            <a:ext cx="493776" cy="49377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9810" y="2779410"/>
            <a:ext cx="256764" cy="25676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406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4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3675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54132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3-valued · next best Q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8534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9677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6967728" y="2587752"/>
            <a:ext cx="82296" cy="122529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7461504" y="2660904"/>
            <a:ext cx="493776" cy="493776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010" y="2779410"/>
            <a:ext cx="256764" cy="25676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0408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5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69677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70134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+ amounts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84536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85679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8567928" y="2587752"/>
            <a:ext cx="82296" cy="122529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9061704" y="2660904"/>
            <a:ext cx="493776" cy="493776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210" y="2779410"/>
            <a:ext cx="256764" cy="25676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6410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6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85679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250" dirty="0"/>
          </a:p>
        </p:txBody>
      </p:sp>
      <p:sp>
        <p:nvSpPr>
          <p:cNvPr id="52" name="Text 44"/>
          <p:cNvSpPr/>
          <p:nvPr/>
        </p:nvSpPr>
        <p:spPr>
          <a:xfrm>
            <a:off x="86136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.gov.my passages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10053828" y="3200400"/>
            <a:ext cx="109728" cy="0"/>
          </a:xfrm>
          <a:prstGeom prst="line">
            <a:avLst/>
          </a:prstGeom>
          <a:noFill/>
          <a:ln w="22225">
            <a:solidFill>
              <a:srgbClr val="B9C2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1016812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10168128" y="2587752"/>
            <a:ext cx="82296" cy="1225296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10661904" y="2660904"/>
            <a:ext cx="493776" cy="493776"/>
          </a:xfrm>
          <a:prstGeom prst="ellipse">
            <a:avLst/>
          </a:prstGeom>
          <a:solidFill>
            <a:srgbClr val="B25E0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0410" y="2779410"/>
            <a:ext cx="256764" cy="256764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102412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5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7</a:t>
            </a:r>
            <a:endParaRPr lang="en-US" sz="1300" dirty="0"/>
          </a:p>
        </p:txBody>
      </p:sp>
      <p:sp>
        <p:nvSpPr>
          <p:cNvPr id="59" name="Text 50"/>
          <p:cNvSpPr/>
          <p:nvPr/>
        </p:nvSpPr>
        <p:spPr>
          <a:xfrm>
            <a:off x="10168128" y="3227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gate</a:t>
            </a:r>
            <a:endParaRPr lang="en-US" sz="1250" dirty="0"/>
          </a:p>
        </p:txBody>
      </p:sp>
      <p:sp>
        <p:nvSpPr>
          <p:cNvPr id="60" name="Text 51"/>
          <p:cNvSpPr/>
          <p:nvPr/>
        </p:nvSpPr>
        <p:spPr>
          <a:xfrm>
            <a:off x="10213848" y="34930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 refuse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502920" y="416052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3"/>
          <p:cNvSpPr/>
          <p:nvPr/>
        </p:nvSpPr>
        <p:spPr>
          <a:xfrm>
            <a:off x="502920" y="4233672"/>
            <a:ext cx="82296" cy="181965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/>
          <p:nvPr/>
        </p:nvSpPr>
        <p:spPr>
          <a:xfrm>
            <a:off x="73152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interview is deterministic</a:t>
            </a:r>
            <a:endParaRPr lang="en-US" sz="1400" dirty="0"/>
          </a:p>
        </p:txBody>
      </p:sp>
      <p:sp>
        <p:nvSpPr>
          <p:cNvPr id="64" name="Text 55"/>
          <p:cNvSpPr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Kleene three-valued logic. </a:t>
            </a: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incomplete profile evaluates to </a:t>
            </a:r>
            <a:r>
              <a:rPr lang="en-US" sz="125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a wrong guess. </a:t>
            </a:r>
            <a:r>
              <a:rPr lang="en-US" sz="1250" dirty="0">
                <a:solidFill>
                  <a:srgbClr val="13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next_field()</a:t>
            </a: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picks the one unanswered fact that would unlock the highest-value programme. The LLM only phrases that question; it never chooses it.</a:t>
            </a:r>
            <a:endParaRPr lang="en-US" sz="1250" dirty="0"/>
          </a:p>
        </p:txBody>
      </p:sp>
      <p:sp>
        <p:nvSpPr>
          <p:cNvPr id="65" name="Shape 56"/>
          <p:cNvSpPr/>
          <p:nvPr/>
        </p:nvSpPr>
        <p:spPr>
          <a:xfrm>
            <a:off x="6263640" y="41605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7"/>
          <p:cNvSpPr/>
          <p:nvPr/>
        </p:nvSpPr>
        <p:spPr>
          <a:xfrm>
            <a:off x="6263640" y="4233672"/>
            <a:ext cx="82296" cy="181965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8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Shown to the citizen — “How we checked”</a:t>
            </a:r>
            <a:endParaRPr lang="en-US" sz="1400" dirty="0"/>
          </a:p>
        </p:txBody>
      </p:sp>
      <p:pic>
        <p:nvPicPr>
          <p:cNvPr id="68" name="Image 7" descr="asset-chi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736592"/>
            <a:ext cx="4937760" cy="627681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6492240" y="5596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E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surfaced in the UI — the reasoning trail is the product, not a black box.</a:t>
            </a:r>
            <a:endParaRPr lang="en-US" sz="1100" dirty="0"/>
          </a:p>
        </p:txBody>
      </p:sp>
      <p:sp>
        <p:nvSpPr>
          <p:cNvPr id="70" name="Text 60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BenefitNavigator Malaysia</a:t>
            </a: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Agents League · Reasoning Agents</a:t>
            </a:r>
            <a:endParaRPr lang="en-US" sz="900" dirty="0"/>
          </a:p>
        </p:txBody>
      </p:sp>
      <p:sp>
        <p:nvSpPr>
          <p:cNvPr id="71" name="Text 61"/>
          <p:cNvSpPr/>
          <p:nvPr/>
        </p:nvSpPr>
        <p:spPr>
          <a:xfrm>
            <a:off x="1109441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692640" y="-73152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FOUNDRY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genuine multi-agent system on Azure AI Foundry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98448" y="205740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900" y="2197852"/>
            <a:ext cx="304312" cy="304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9224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— picks ask / assess / escalate. Tool-less; produces no facts.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77240" y="3813048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243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38130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(router)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88920" y="187452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584448" y="205740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900" y="2197852"/>
            <a:ext cx="304312" cy="304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88920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35224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next question warmly; the engine chooses which.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063240" y="3813048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3063240" y="38130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grill_next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74920" y="187452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870448" y="205740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900" y="219785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74920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221224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verdicts in plain Malay; drafts appeals.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349240" y="3813048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38130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360920" y="187452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156448" y="205740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900" y="2197852"/>
            <a:ext cx="304312" cy="304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507224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human, never a dead end.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635240" y="3813048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243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635240" y="38130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646920" y="1874520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10442448" y="205740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2900" y="2197852"/>
            <a:ext cx="304312" cy="3043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646920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9793224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Formulates a Malay query, calls retrieve — on the critical path.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9921240" y="3813048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9921240" y="38130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" y="4526280"/>
            <a:ext cx="5532120" cy="1508760"/>
          </a:xfrm>
          <a:prstGeom prst="roundRect">
            <a:avLst>
              <a:gd name="adj" fmla="val 6061"/>
            </a:avLst>
          </a:prstGeom>
          <a:solidFill>
            <a:srgbClr val="1B3A6B"/>
          </a:solidFill>
          <a:ln w="15875">
            <a:solidFill>
              <a:srgbClr val="1B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731520" y="4645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</a:t>
            </a:r>
            <a:r>
              <a:rPr lang="en-US" sz="1400" b="1" dirty="0">
                <a:solidFill>
                  <a:srgbClr val="7FE0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Trust-core MCP server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731520" y="4983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reach the deterministic core ONLY through Model Context Protocol tools — verdicts and questions are signed across an HMAC state token the agent can relay but never alter.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6199632" y="4526280"/>
            <a:ext cx="5504688" cy="1508760"/>
          </a:xfrm>
          <a:prstGeom prst="roundRect">
            <a:avLst>
              <a:gd name="adj" fmla="val 6061"/>
            </a:avLst>
          </a:prstGeom>
          <a:solidFill>
            <a:srgbClr val="1B3A6B"/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6428232" y="4645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</a:t>
            </a:r>
            <a:r>
              <a:rPr lang="en-US" sz="14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Foundry IQ — agentic retrieval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6428232" y="49834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Azure AI Search knowledge base over 6 gazetted .gov.my documents — hybrid BM25 + vector + semantic rerank returns extractive, cited passages that ground every narrative.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02920" y="614476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Same-project Foundry→Foundry A2A is an open platform bug, so the conductor performs the delegation hop — the Orchestrator still owns the routing decision. Genuine multi-agent; only the network hop moved.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things LLMs are bad at — fenced off by design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AF0FA"/>
          </a:solidFill>
          <a:ln w="15875">
            <a:solidFill>
              <a:srgbClr val="1B3A6B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653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</a:t>
            </a:r>
            <a:r>
              <a:rPr lang="en-US" sz="15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LLM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the citizen stated   </a:t>
            </a: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question   </a:t>
            </a: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in plain Malay   </a:t>
            </a: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human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7F3EC"/>
          </a:solidFill>
          <a:ln w="15875">
            <a:solidFill>
              <a:srgbClr val="1B7A3D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8653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</a:t>
            </a:r>
            <a:r>
              <a:rPr lang="en-US" sz="1500" b="1" dirty="0">
                <a:solidFill>
                  <a:srgbClr val="1B7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core does (no LLM)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  </a:t>
            </a: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RM amount   </a:t>
            </a: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question   </a:t>
            </a: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.gov.my source   </a:t>
            </a: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narrative passes a non-bypassable dual gate before any citizen sees it: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2519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4325112"/>
            <a:ext cx="82296" cy="172821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4462272"/>
            <a:ext cx="512064" cy="512064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4585167"/>
            <a:ext cx="266273" cy="2662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Amount guard (hard)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RMxxx in the text must trace to a verdict, the stated income, or a gazetted threshold. A fabricated “RM9000” trips it precisely.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53128" y="42519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53128" y="4325112"/>
            <a:ext cx="82296" cy="172821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81728" y="4462272"/>
            <a:ext cx="512064" cy="512064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23" y="4585167"/>
            <a:ext cx="266273" cy="26627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21808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Content Safety (soft)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681728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 scores groundedness against the verdicts + cited passages — catches ungrounded claims that have no fake number.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403336" y="42519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403336" y="4325112"/>
            <a:ext cx="82296" cy="1728216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631936" y="4462272"/>
            <a:ext cx="512064" cy="512064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831" y="458516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272016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= refuse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631936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check fails ⇒ the turn refuses and routes to Talian Kasih 15999. A missing agent fails hard (action=error) — never a local guess.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BenefitNavigator Malaysia</a:t>
            </a: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Agents League · Reasoning Agents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09441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AZURE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cloud-hosted — no laptop in the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92224"/>
            <a:ext cx="82296" cy="100584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" y="2020824"/>
            <a:ext cx="548640" cy="548640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2152498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65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Foundry — Agent Service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63040" y="22494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gpt-4o agents: route · interview · narrate · escalate · retrieve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719072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72200" y="1792224"/>
            <a:ext cx="82296" cy="100584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91656" y="2020824"/>
            <a:ext cx="548640" cy="548640"/>
          </a:xfrm>
          <a:prstGeom prst="ellipse">
            <a:avLst/>
          </a:prstGeom>
          <a:solidFill>
            <a:srgbClr val="13294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2152498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 ×2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132320" y="22494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benefitnav-api (conductor + gate + UI) · benefitnav-mcp (trust tools)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017520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2920" y="3090672"/>
            <a:ext cx="82296" cy="100584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2376" y="3319272"/>
            <a:ext cx="548640" cy="548640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345094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163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 (Basic) + Foundry IQ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6304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semantic rerank, extractive citations over the corpus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72200" y="3017520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3090672"/>
            <a:ext cx="82296" cy="100584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391656" y="3319272"/>
            <a:ext cx="548640" cy="548640"/>
          </a:xfrm>
          <a:prstGeom prst="ellipse">
            <a:avLst/>
          </a:prstGeom>
          <a:solidFill>
            <a:srgbClr val="1B7A3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0" y="3450946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3163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— gpt-4o + embeddings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13232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inference + intake; text-embedding-3-large (3072-d)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315968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02920" y="4389120"/>
            <a:ext cx="82296" cy="10058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22376" y="461772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050" y="4749394"/>
            <a:ext cx="285293" cy="28529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4462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Content Safety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463040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Shields (injection) + Groundedness (the gate's soft guard)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72200" y="4315968"/>
            <a:ext cx="553212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172200" y="4389120"/>
            <a:ext cx="82296" cy="10058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391656" y="4617720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330" y="4749394"/>
            <a:ext cx="285293" cy="28529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32320" y="4462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Translator + Blob Storage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7132320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↔ EN · 中文 · தமிழ்  ·  6 source-of-truth .gov.my documents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02920" y="5669280"/>
            <a:ext cx="11201400" cy="54864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in the repo. The conductor uses a Container-App managed identity (Azure AI Developer); keys &amp; the shared HMAC token are injected as Container-App secrets, fetched at runtime via the az CLI locally.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914400" y="329184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3232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see it work.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9535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situation in plain Bahasa Melayu — single mother, OKU child, low income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538728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adaptive interview ask one decision-relevant question at a time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410565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4087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verdict cards — amounts + .gov.my citations + the one unlocking action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4672584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25880" y="46542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EN / 中文 / Tamil instantly · generate the appeal letter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61504" y="1746504"/>
            <a:ext cx="4416552" cy="3100137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/>
          <a:effectLst>
            <a:outerShdw blurRad="177800" dist="635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asset-near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74520"/>
            <a:ext cx="4160520" cy="284410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61504" y="4947225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→ the one unlocking action → a drafted appeal letter.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C1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31520" y="62910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benefitnav-api.ashyocean-f47e8ddf.swedencentral.azurecontainerapps.io</a:t>
            </a: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(synthetic data only — never a real MyKad)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64008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</a:t>
            </a:r>
            <a:r>
              <a:rPr lang="en-US" sz="40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benefit · right citizen · every figure cited — or it refuses to guess.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8864" y="32004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8864" y="3200400"/>
            <a:ext cx="2103120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8864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6880" y="380390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pipeline · Kleene 3-valued interview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6576" y="32004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76576" y="3200400"/>
            <a:ext cx="2103120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76576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04592" y="380390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MCP trust core · Foundry IQ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44288" y="32004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44288" y="3200400"/>
            <a:ext cx="2103120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44288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72304" y="380390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gate · fail-hard · cite-or-refuse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12000" y="32004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12000" y="3200400"/>
            <a:ext cx="2103120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2000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40016" y="380390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verdicts from cited rules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579712" y="32004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3350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579712" y="3200400"/>
            <a:ext cx="2103120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579712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9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07728" y="380390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Malay-first · accessible · 4 languages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194560" y="4983480"/>
            <a:ext cx="7772400" cy="640080"/>
          </a:xfrm>
          <a:prstGeom prst="roundRect">
            <a:avLst>
              <a:gd name="adj" fmla="val 50000"/>
            </a:avLst>
          </a:prstGeom>
          <a:solidFill>
            <a:srgbClr val="0C1B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194560" y="4983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Azure:  </a:t>
            </a: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benefitnav-api.ashyocean-f47e8ddf.swedencentral.azurecontainerapps.io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Microsoft Agents League · Reasoning Agents (Microsoft Foundry)  ·  Terima kasih 🇲🇾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1411</Words>
  <Application>Microsoft Macintosh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BenefitNavigator Malaysia — Agents League Demo</dc:title>
  <dc:subject>PptxGenJS Presentation</dc:subject>
  <dc:creator>BenefitNavigator Malaysia</dc:creator>
  <cp:lastModifiedBy>LIM ZHUN VIN</cp:lastModifiedBy>
  <cp:revision>3</cp:revision>
  <dcterms:created xsi:type="dcterms:W3CDTF">2026-06-13T11:50:27Z</dcterms:created>
  <dcterms:modified xsi:type="dcterms:W3CDTF">2026-06-13T13:58:27Z</dcterms:modified>
</cp:coreProperties>
</file>